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rata" panose="020B0604020202020204" charset="0"/>
      <p:regular r:id="rId19"/>
    </p:embeddedFont>
    <p:embeddedFont>
      <p:font typeface="Raleway" panose="020F0502020204030204" pitchFamily="2" charset="0"/>
      <p:regular r:id="rId20"/>
    </p:embeddedFont>
    <p:embeddedFont>
      <p:font typeface="Ralew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19" Type="http://schemas.openxmlformats.org/officeDocument/2006/relationships/image" Target="../media/image29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1273378"/>
            <a:ext cx="7116661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VertexDoc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2411016"/>
            <a:ext cx="9445523" cy="430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1"/>
              </a:lnSpc>
            </a:pPr>
            <a:r>
              <a:rPr lang="en-US" sz="67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Intelligent PDF Chat Assistant using Retrieval Augmented Generation (RAG)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005047"/>
            <a:ext cx="944552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VertexDoc AI lets users upload PDF documents and chat with them using natural language — powered by RAG, semantic search, and Google Gemini.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8225580"/>
            <a:ext cx="9445523" cy="30956"/>
            <a:chOff x="0" y="0"/>
            <a:chExt cx="12594031" cy="412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55" cy="41149"/>
            </a:xfrm>
            <a:custGeom>
              <a:avLst/>
              <a:gdLst/>
              <a:ahLst/>
              <a:cxnLst/>
              <a:rect l="l" t="t" r="r" b="b"/>
              <a:pathLst>
                <a:path w="12593955" h="41149">
                  <a:moveTo>
                    <a:pt x="0" y="20574"/>
                  </a:moveTo>
                  <a:cubicBezTo>
                    <a:pt x="0" y="9271"/>
                    <a:pt x="9271" y="0"/>
                    <a:pt x="20574" y="0"/>
                  </a:cubicBezTo>
                  <a:lnTo>
                    <a:pt x="12573381" y="0"/>
                  </a:lnTo>
                  <a:cubicBezTo>
                    <a:pt x="12584812" y="0"/>
                    <a:pt x="12593955" y="9271"/>
                    <a:pt x="12593955" y="20574"/>
                  </a:cubicBezTo>
                  <a:cubicBezTo>
                    <a:pt x="12593955" y="31877"/>
                    <a:pt x="12584685" y="41148"/>
                    <a:pt x="12573381" y="41148"/>
                  </a:cubicBezTo>
                  <a:lnTo>
                    <a:pt x="20574" y="41148"/>
                  </a:lnTo>
                  <a:cubicBezTo>
                    <a:pt x="9271" y="41275"/>
                    <a:pt x="0" y="32004"/>
                    <a:pt x="0" y="20701"/>
                  </a:cubicBezTo>
                  <a:close/>
                </a:path>
              </a:pathLst>
            </a:custGeom>
            <a:solidFill>
              <a:srgbClr val="CFCBBF">
                <a:alpha val="24706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92238" y="8511778"/>
            <a:ext cx="10359923" cy="4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Developer: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Ankani Balaji  ·  </a:t>
            </a: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Technology: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Python · Flask · Gemini · FAISS · LangChain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778669"/>
            <a:ext cx="6922894" cy="77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Project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1821656"/>
            <a:ext cx="9445523" cy="121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VertexDoc AI enables users to upload PDF documents and interact with them through natural language — replacing manual search with AI-powered, context-aware responses built on Retrieval Augmented Generation.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2238" y="3295050"/>
            <a:ext cx="9445523" cy="1373981"/>
            <a:chOff x="0" y="0"/>
            <a:chExt cx="12594031" cy="1831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94082" cy="1831975"/>
            </a:xfrm>
            <a:custGeom>
              <a:avLst/>
              <a:gdLst/>
              <a:ahLst/>
              <a:cxnLst/>
              <a:rect l="l" t="t" r="r" b="b"/>
              <a:pathLst>
                <a:path w="12594082" h="1831975">
                  <a:moveTo>
                    <a:pt x="0" y="48133"/>
                  </a:moveTo>
                  <a:cubicBezTo>
                    <a:pt x="0" y="21463"/>
                    <a:pt x="21463" y="0"/>
                    <a:pt x="48133" y="0"/>
                  </a:cubicBezTo>
                  <a:lnTo>
                    <a:pt x="12545949" y="0"/>
                  </a:lnTo>
                  <a:cubicBezTo>
                    <a:pt x="12572492" y="0"/>
                    <a:pt x="12594082" y="21463"/>
                    <a:pt x="12594082" y="48133"/>
                  </a:cubicBezTo>
                  <a:lnTo>
                    <a:pt x="12594082" y="1783842"/>
                  </a:lnTo>
                  <a:cubicBezTo>
                    <a:pt x="12594082" y="1810385"/>
                    <a:pt x="12572619" y="1831975"/>
                    <a:pt x="12545949" y="1831975"/>
                  </a:cubicBezTo>
                  <a:lnTo>
                    <a:pt x="48133" y="1831975"/>
                  </a:lnTo>
                  <a:cubicBezTo>
                    <a:pt x="21590" y="1831975"/>
                    <a:pt x="0" y="1810512"/>
                    <a:pt x="0" y="1783842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32449" y="3525736"/>
            <a:ext cx="4172398" cy="38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AI Document Understanding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2449" y="3974154"/>
            <a:ext cx="8965111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Parses and interprets PDF content using advanced NLP and embedding models.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4901803"/>
            <a:ext cx="9445523" cy="1373981"/>
            <a:chOff x="0" y="0"/>
            <a:chExt cx="12594031" cy="18319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94082" cy="1831975"/>
            </a:xfrm>
            <a:custGeom>
              <a:avLst/>
              <a:gdLst/>
              <a:ahLst/>
              <a:cxnLst/>
              <a:rect l="l" t="t" r="r" b="b"/>
              <a:pathLst>
                <a:path w="12594082" h="1831975">
                  <a:moveTo>
                    <a:pt x="0" y="48133"/>
                  </a:moveTo>
                  <a:cubicBezTo>
                    <a:pt x="0" y="21463"/>
                    <a:pt x="21463" y="0"/>
                    <a:pt x="48133" y="0"/>
                  </a:cubicBezTo>
                  <a:lnTo>
                    <a:pt x="12545949" y="0"/>
                  </a:lnTo>
                  <a:cubicBezTo>
                    <a:pt x="12572492" y="0"/>
                    <a:pt x="12594082" y="21463"/>
                    <a:pt x="12594082" y="48133"/>
                  </a:cubicBezTo>
                  <a:lnTo>
                    <a:pt x="12594082" y="1783842"/>
                  </a:lnTo>
                  <a:cubicBezTo>
                    <a:pt x="12594082" y="1810385"/>
                    <a:pt x="12572619" y="1831975"/>
                    <a:pt x="12545949" y="1831975"/>
                  </a:cubicBezTo>
                  <a:lnTo>
                    <a:pt x="48133" y="1831975"/>
                  </a:lnTo>
                  <a:cubicBezTo>
                    <a:pt x="21590" y="1831975"/>
                    <a:pt x="0" y="1810512"/>
                    <a:pt x="0" y="1783842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32449" y="5132489"/>
            <a:ext cx="4724400" cy="38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Retrieval Augmented Generation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2449" y="5580907"/>
            <a:ext cx="8965111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Grounds every response in retrieved document context — no hallucination.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38" y="6508556"/>
            <a:ext cx="9445523" cy="1373981"/>
            <a:chOff x="0" y="0"/>
            <a:chExt cx="12594031" cy="18319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94082" cy="1831975"/>
            </a:xfrm>
            <a:custGeom>
              <a:avLst/>
              <a:gdLst/>
              <a:ahLst/>
              <a:cxnLst/>
              <a:rect l="l" t="t" r="r" b="b"/>
              <a:pathLst>
                <a:path w="12594082" h="1831975">
                  <a:moveTo>
                    <a:pt x="0" y="48133"/>
                  </a:moveTo>
                  <a:cubicBezTo>
                    <a:pt x="0" y="21463"/>
                    <a:pt x="21463" y="0"/>
                    <a:pt x="48133" y="0"/>
                  </a:cubicBezTo>
                  <a:lnTo>
                    <a:pt x="12545949" y="0"/>
                  </a:lnTo>
                  <a:cubicBezTo>
                    <a:pt x="12572492" y="0"/>
                    <a:pt x="12594082" y="21463"/>
                    <a:pt x="12594082" y="48133"/>
                  </a:cubicBezTo>
                  <a:lnTo>
                    <a:pt x="12594082" y="1783842"/>
                  </a:lnTo>
                  <a:cubicBezTo>
                    <a:pt x="12594082" y="1810385"/>
                    <a:pt x="12572619" y="1831975"/>
                    <a:pt x="12545949" y="1831975"/>
                  </a:cubicBezTo>
                  <a:lnTo>
                    <a:pt x="48133" y="1831975"/>
                  </a:lnTo>
                  <a:cubicBezTo>
                    <a:pt x="21590" y="1831975"/>
                    <a:pt x="0" y="1810512"/>
                    <a:pt x="0" y="1783842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32449" y="6739233"/>
            <a:ext cx="3004242" cy="38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Semantic Search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2449" y="7187651"/>
            <a:ext cx="8965111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Understands meaning and intent, not just keywords, for accurate retrieval.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2238" y="8115300"/>
            <a:ext cx="9445523" cy="1373981"/>
            <a:chOff x="0" y="0"/>
            <a:chExt cx="12594031" cy="18319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94082" cy="1831975"/>
            </a:xfrm>
            <a:custGeom>
              <a:avLst/>
              <a:gdLst/>
              <a:ahLst/>
              <a:cxnLst/>
              <a:rect l="l" t="t" r="r" b="b"/>
              <a:pathLst>
                <a:path w="12594082" h="1831975">
                  <a:moveTo>
                    <a:pt x="0" y="48133"/>
                  </a:moveTo>
                  <a:cubicBezTo>
                    <a:pt x="0" y="21463"/>
                    <a:pt x="21463" y="0"/>
                    <a:pt x="48133" y="0"/>
                  </a:cubicBezTo>
                  <a:lnTo>
                    <a:pt x="12545949" y="0"/>
                  </a:lnTo>
                  <a:cubicBezTo>
                    <a:pt x="12572492" y="0"/>
                    <a:pt x="12594082" y="21463"/>
                    <a:pt x="12594082" y="48133"/>
                  </a:cubicBezTo>
                  <a:lnTo>
                    <a:pt x="12594082" y="1783842"/>
                  </a:lnTo>
                  <a:cubicBezTo>
                    <a:pt x="12594082" y="1810385"/>
                    <a:pt x="12572619" y="1831975"/>
                    <a:pt x="12545949" y="1831975"/>
                  </a:cubicBezTo>
                  <a:lnTo>
                    <a:pt x="48133" y="1831975"/>
                  </a:lnTo>
                  <a:cubicBezTo>
                    <a:pt x="21590" y="1831975"/>
                    <a:pt x="0" y="1810512"/>
                    <a:pt x="0" y="1783842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32449" y="8345986"/>
            <a:ext cx="3134620" cy="38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Modular Architecture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449" y="8794404"/>
            <a:ext cx="8965111" cy="45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Clean separation of concerns across PDF, RAG, chat, and export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96563"/>
            <a:ext cx="7116661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501038"/>
            <a:ext cx="1630352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Traditional PDF workflows are slow and imprecise. Long documents require manual scrolling, keyword search misses context, and information retrieval is time-consuming and error-prone.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898079"/>
            <a:ext cx="4145756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❌</a:t>
            </a:r>
            <a:r>
              <a:rPr lang="en-US" sz="2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Traditional Search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467055"/>
            <a:ext cx="7849200" cy="241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Keyword-only matching — no semantic understanding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Manual scrolling through hundreds of pages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 context awareness or intent recognition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Time-consuming and error-prone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Cannot answer complex or multi-part questions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77502" y="4659659"/>
            <a:ext cx="8206378" cy="3311576"/>
            <a:chOff x="0" y="0"/>
            <a:chExt cx="10941837" cy="44154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41812" cy="4415409"/>
            </a:xfrm>
            <a:custGeom>
              <a:avLst/>
              <a:gdLst/>
              <a:ahLst/>
              <a:cxnLst/>
              <a:rect l="l" t="t" r="r" b="b"/>
              <a:pathLst>
                <a:path w="10941812" h="4415409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892155" y="0"/>
                  </a:lnTo>
                  <a:cubicBezTo>
                    <a:pt x="10919587" y="0"/>
                    <a:pt x="10941812" y="22225"/>
                    <a:pt x="10941812" y="49657"/>
                  </a:cubicBezTo>
                  <a:lnTo>
                    <a:pt x="10941812" y="4365752"/>
                  </a:lnTo>
                  <a:cubicBezTo>
                    <a:pt x="10941812" y="4393184"/>
                    <a:pt x="10919587" y="4415409"/>
                    <a:pt x="10892155" y="4415409"/>
                  </a:cubicBezTo>
                  <a:lnTo>
                    <a:pt x="49657" y="4415409"/>
                  </a:lnTo>
                  <a:cubicBezTo>
                    <a:pt x="22225" y="4415409"/>
                    <a:pt x="0" y="4393184"/>
                    <a:pt x="0" y="4365752"/>
                  </a:cubicBezTo>
                  <a:close/>
                </a:path>
              </a:pathLst>
            </a:custGeom>
            <a:solidFill>
              <a:srgbClr val="EEE27D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525448" y="4898079"/>
            <a:ext cx="4329265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✅ AI Semantic Search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448" y="5467055"/>
            <a:ext cx="7710488" cy="241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Understands meaning, intent, and context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Instant retrieval of relevant document sections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Conversational, natural language interaction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Grounded, accurate, and hallucination-free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Handles complex, multi-part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571750" y="715718"/>
            <a:ext cx="8107861" cy="530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Solution: The VertexDoc AI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1750" y="1451077"/>
            <a:ext cx="14058900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VertexDoc AI transforms static PDFs into interactive, queryable knowledge bases through a six-stage RAG pipeline — from document ingestion to grounded AI response.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71750" y="1818980"/>
            <a:ext cx="13144500" cy="7393781"/>
            <a:chOff x="0" y="0"/>
            <a:chExt cx="17526000" cy="985837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7526000" cy="9858375"/>
            </a:xfrm>
            <a:custGeom>
              <a:avLst/>
              <a:gdLst/>
              <a:ahLst/>
              <a:cxnLst/>
              <a:rect l="l" t="t" r="r" b="b"/>
              <a:pathLst>
                <a:path w="17526000" h="9858375">
                  <a:moveTo>
                    <a:pt x="0" y="0"/>
                  </a:moveTo>
                  <a:lnTo>
                    <a:pt x="17526000" y="0"/>
                  </a:lnTo>
                  <a:lnTo>
                    <a:pt x="17526000" y="9858375"/>
                  </a:lnTo>
                  <a:lnTo>
                    <a:pt x="0" y="985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8" b="-4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571750" y="9319622"/>
            <a:ext cx="14058900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Every answer is grounded in retrieved document context — ensuring accuracy and eliminating AI hallucination at the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659284"/>
            <a:ext cx="7116661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863748"/>
            <a:ext cx="17217923" cy="4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VertexDoc AI is built on a modern, battle-tested stack — each technology selected for its strengths in AI, retrieval, and web development.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238" y="3625453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4" y="0"/>
                </a:lnTo>
                <a:lnTo>
                  <a:pt x="620164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22412" y="3615928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Backend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22412" y="4076252"/>
            <a:ext cx="7066512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Python · Flask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Lightweight RESTful API with clean routing and modular service architecture.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98934" y="3625453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29107" y="3615928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AI Engine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29107" y="4076252"/>
            <a:ext cx="7066655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Google Gemini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Multimodal LLM for summarization, question generation, and grounded responses.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238" y="5451872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4" y="0"/>
                </a:lnTo>
                <a:lnTo>
                  <a:pt x="620164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57" b="-75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22412" y="5442347"/>
            <a:ext cx="3492998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Retrieval Orchestration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22412" y="5902671"/>
            <a:ext cx="7066512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LangChain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Orchestrates retrieval chains, prompt templates, and LLM interactions.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98934" y="5451872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29107" y="5442347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Vector Database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9107" y="5902671"/>
            <a:ext cx="7066655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FAISS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Facebook AI Similarity Search for high-speed semantic vector lookup at scale.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238" y="7278291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4" y="0"/>
                </a:lnTo>
                <a:lnTo>
                  <a:pt x="620164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9090" b="-9090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922412" y="7268766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Embeddings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22412" y="7729090"/>
            <a:ext cx="7066512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sentence-transformers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Converts text chunks into dense semantic vectors for similarity search.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298934" y="7278291"/>
            <a:ext cx="620163" cy="620163"/>
          </a:xfrm>
          <a:custGeom>
            <a:avLst/>
            <a:gdLst/>
            <a:ahLst/>
            <a:cxnLst/>
            <a:rect l="l" t="t" r="r" b="b"/>
            <a:pathLst>
              <a:path w="620163" h="620163">
                <a:moveTo>
                  <a:pt x="0" y="0"/>
                </a:moveTo>
                <a:lnTo>
                  <a:pt x="620163" y="0"/>
                </a:lnTo>
                <a:lnTo>
                  <a:pt x="620163" y="620163"/>
                </a:lnTo>
                <a:lnTo>
                  <a:pt x="0" y="62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6060" b="-606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29107" y="7268766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Frontend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29107" y="7729090"/>
            <a:ext cx="7066655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Bootstrap · HTML · CSS · JS</a:t>
            </a: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Responsive UI with chat interface and export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571750" y="676875"/>
            <a:ext cx="5081588" cy="530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1750" y="1412234"/>
            <a:ext cx="14058900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 clean layered architecture separates concerns across ingestion, retrieval, and response generation — ensuring maintainability and scalability.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1750" y="1882531"/>
            <a:ext cx="29979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Architecture Flow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71750" y="2278409"/>
            <a:ext cx="333375" cy="208359"/>
            <a:chOff x="0" y="0"/>
            <a:chExt cx="444500" cy="2778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71750" y="2542727"/>
            <a:ext cx="5013722" cy="19050"/>
            <a:chOff x="0" y="0"/>
            <a:chExt cx="6684962" cy="25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571750" y="2654646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User 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1750" y="3017491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Browser-based chat and upload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71750" y="3496418"/>
            <a:ext cx="333375" cy="208359"/>
            <a:chOff x="0" y="0"/>
            <a:chExt cx="444500" cy="2778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71750" y="3744068"/>
            <a:ext cx="5013722" cy="19050"/>
            <a:chOff x="0" y="0"/>
            <a:chExt cx="6684962" cy="254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571750" y="3872655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Flask 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71750" y="4235501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REST API and request routing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571750" y="4714427"/>
            <a:ext cx="333375" cy="208359"/>
            <a:chOff x="0" y="0"/>
            <a:chExt cx="444500" cy="2778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571750" y="4945409"/>
            <a:ext cx="5013722" cy="19050"/>
            <a:chOff x="0" y="0"/>
            <a:chExt cx="6684962" cy="2540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571750" y="5090665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PDF Service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71750" y="5453510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Text extraction and chunking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571750" y="5932437"/>
            <a:ext cx="333375" cy="208359"/>
            <a:chOff x="0" y="0"/>
            <a:chExt cx="444500" cy="2778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571750" y="6146749"/>
            <a:ext cx="5013722" cy="19050"/>
            <a:chOff x="0" y="0"/>
            <a:chExt cx="6684962" cy="25400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2571750" y="6308674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Embedding Model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71750" y="6671520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Sentence-transformers vectorization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2571750" y="7150446"/>
            <a:ext cx="333375" cy="208359"/>
            <a:chOff x="0" y="0"/>
            <a:chExt cx="444500" cy="2778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571750" y="7348090"/>
            <a:ext cx="5013722" cy="19050"/>
            <a:chOff x="0" y="0"/>
            <a:chExt cx="6684962" cy="25400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2571750" y="7526684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FAISS Vector Store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71750" y="7889529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Semantic similarity search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2571750" y="8368455"/>
            <a:ext cx="333375" cy="208359"/>
            <a:chOff x="0" y="0"/>
            <a:chExt cx="444500" cy="2778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4501" cy="277813"/>
            </a:xfrm>
            <a:custGeom>
              <a:avLst/>
              <a:gdLst/>
              <a:ahLst/>
              <a:cxnLst/>
              <a:rect l="l" t="t" r="r" b="b"/>
              <a:pathLst>
                <a:path w="444501" h="277813">
                  <a:moveTo>
                    <a:pt x="0" y="0"/>
                  </a:moveTo>
                  <a:lnTo>
                    <a:pt x="444501" y="0"/>
                  </a:lnTo>
                  <a:lnTo>
                    <a:pt x="444501" y="277813"/>
                  </a:lnTo>
                  <a:lnTo>
                    <a:pt x="0" y="277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44500" cy="287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06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571750" y="8549430"/>
            <a:ext cx="5013722" cy="19050"/>
            <a:chOff x="0" y="0"/>
            <a:chExt cx="6684962" cy="25400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6685026" cy="25400"/>
            </a:xfrm>
            <a:custGeom>
              <a:avLst/>
              <a:gdLst/>
              <a:ahLst/>
              <a:cxnLst/>
              <a:rect l="l" t="t" r="r" b="b"/>
              <a:pathLst>
                <a:path w="6685026" h="25400">
                  <a:moveTo>
                    <a:pt x="0" y="0"/>
                  </a:moveTo>
                  <a:lnTo>
                    <a:pt x="6685026" y="0"/>
                  </a:lnTo>
                  <a:lnTo>
                    <a:pt x="6685026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" r="-58"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2571750" y="8744693"/>
            <a:ext cx="20835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Gemini API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71750" y="9107538"/>
            <a:ext cx="5013722" cy="2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Grounded AI response generation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001600" y="1882531"/>
            <a:ext cx="2997994" cy="26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Design Principles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001600" y="2245366"/>
            <a:ext cx="7724032" cy="1028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690" lvl="1" indent="-156845" algn="l">
              <a:lnSpc>
                <a:spcPts val="1731"/>
              </a:lnSpc>
              <a:buFont typeface="Arial"/>
              <a:buChar char="•"/>
            </a:pPr>
            <a:r>
              <a:rPr lang="en-US" sz="13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Separation of Concerns:</a:t>
            </a: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Each service has a single responsibility</a:t>
            </a:r>
          </a:p>
          <a:p>
            <a:pPr marL="313690" lvl="1" indent="-156845" algn="l">
              <a:lnSpc>
                <a:spcPts val="1731"/>
              </a:lnSpc>
              <a:buFont typeface="Arial"/>
              <a:buChar char="•"/>
            </a:pPr>
            <a:r>
              <a:rPr lang="en-US" sz="13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Stateless API:</a:t>
            </a: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Flask handles requests without persistent server state</a:t>
            </a:r>
          </a:p>
          <a:p>
            <a:pPr marL="313690" lvl="1" indent="-156845" algn="l">
              <a:lnSpc>
                <a:spcPts val="1731"/>
              </a:lnSpc>
              <a:buFont typeface="Arial"/>
              <a:buChar char="•"/>
            </a:pPr>
            <a:r>
              <a:rPr lang="en-US" sz="13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Pluggable Components:</a:t>
            </a: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Swap embedding models or LLMs independently</a:t>
            </a:r>
          </a:p>
          <a:p>
            <a:pPr marL="313690" lvl="1" indent="-156845" algn="l">
              <a:lnSpc>
                <a:spcPts val="1731"/>
              </a:lnSpc>
              <a:buFont typeface="Arial"/>
              <a:buChar char="•"/>
            </a:pPr>
            <a:r>
              <a:rPr lang="en-US" sz="1300" b="1">
                <a:solidFill>
                  <a:srgbClr val="CFCBBF"/>
                </a:solidFill>
                <a:latin typeface="Raleway Bold"/>
                <a:ea typeface="Raleway Bold"/>
                <a:cs typeface="Raleway Bold"/>
                <a:sym typeface="Raleway Bold"/>
              </a:rPr>
              <a:t>Local-First:</a:t>
            </a: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FAISS runs locally — no external vector DB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835971"/>
            <a:ext cx="7392143" cy="79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Application Workflow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040436"/>
            <a:ext cx="16303523" cy="87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From first upload to final answer, VertexDoc AI follows a clear eight-stage workflow — each step designed for speed, accuracy, and a seamless user experience.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6315523"/>
            <a:ext cx="16303523" cy="28575"/>
            <a:chOff x="0" y="0"/>
            <a:chExt cx="21738031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38082" cy="38100"/>
            </a:xfrm>
            <a:custGeom>
              <a:avLst/>
              <a:gdLst/>
              <a:ahLst/>
              <a:cxnLst/>
              <a:rect l="l" t="t" r="r" b="b"/>
              <a:pathLst>
                <a:path w="217380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668791" y="5571382"/>
            <a:ext cx="28575" cy="744141"/>
            <a:chOff x="0" y="0"/>
            <a:chExt cx="38100" cy="9921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404024" y="6036469"/>
            <a:ext cx="558108" cy="558108"/>
            <a:chOff x="0" y="0"/>
            <a:chExt cx="744144" cy="7441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497036" y="6082979"/>
            <a:ext cx="372066" cy="465087"/>
            <a:chOff x="0" y="0"/>
            <a:chExt cx="496087" cy="6201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0184" y="3189532"/>
            <a:ext cx="28859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Upload PDF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0184" y="3649866"/>
            <a:ext cx="2885923" cy="167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 uploads a document through the responsive web interface.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4698" y="6315523"/>
            <a:ext cx="28575" cy="744141"/>
            <a:chOff x="0" y="0"/>
            <a:chExt cx="38100" cy="9921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4249941" y="6036469"/>
            <a:ext cx="558108" cy="558108"/>
            <a:chOff x="0" y="0"/>
            <a:chExt cx="744144" cy="7441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342952" y="6082979"/>
            <a:ext cx="372066" cy="465087"/>
            <a:chOff x="0" y="0"/>
            <a:chExt cx="496087" cy="6201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2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086100" y="7298236"/>
            <a:ext cx="28859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Extract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86100" y="7758560"/>
            <a:ext cx="2885923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PDF content is parsed, cleaned, and prepared for processing.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360614" y="5571382"/>
            <a:ext cx="28575" cy="744141"/>
            <a:chOff x="0" y="0"/>
            <a:chExt cx="38100" cy="9921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095848" y="6036469"/>
            <a:ext cx="558108" cy="558108"/>
            <a:chOff x="0" y="0"/>
            <a:chExt cx="744144" cy="7441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188869" y="6082979"/>
            <a:ext cx="372066" cy="465087"/>
            <a:chOff x="0" y="0"/>
            <a:chExt cx="496087" cy="6201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932016" y="3189532"/>
            <a:ext cx="2885923" cy="7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Generate Summary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32016" y="4037562"/>
            <a:ext cx="2885923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Gemini produces a concise document overview for the user.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206683" y="6315523"/>
            <a:ext cx="28575" cy="744141"/>
            <a:chOff x="0" y="0"/>
            <a:chExt cx="38100" cy="9921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7941916" y="6036469"/>
            <a:ext cx="558108" cy="558108"/>
            <a:chOff x="0" y="0"/>
            <a:chExt cx="744144" cy="7441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8034928" y="6082979"/>
            <a:ext cx="372066" cy="465087"/>
            <a:chOff x="0" y="0"/>
            <a:chExt cx="496087" cy="6201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4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777933" y="7298236"/>
            <a:ext cx="2886075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Suggest Questions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77933" y="7758560"/>
            <a:ext cx="2886075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AI generates relevant questions to guide user exploration.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052599" y="5571382"/>
            <a:ext cx="28575" cy="744141"/>
            <a:chOff x="0" y="0"/>
            <a:chExt cx="38100" cy="9921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9787833" y="6036469"/>
            <a:ext cx="558108" cy="558108"/>
            <a:chOff x="0" y="0"/>
            <a:chExt cx="744144" cy="7441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880844" y="6082979"/>
            <a:ext cx="372066" cy="465087"/>
            <a:chOff x="0" y="0"/>
            <a:chExt cx="496087" cy="62011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5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8623849" y="3189532"/>
            <a:ext cx="2886075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Store Embeddings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23849" y="3649866"/>
            <a:ext cx="2886075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Text chunks are vectorized and persisted in FAISS.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898506" y="6315523"/>
            <a:ext cx="28575" cy="744141"/>
            <a:chOff x="0" y="0"/>
            <a:chExt cx="38100" cy="99218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1633749" y="6036469"/>
            <a:ext cx="558108" cy="558108"/>
            <a:chOff x="0" y="0"/>
            <a:chExt cx="744144" cy="7441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1726761" y="6082979"/>
            <a:ext cx="372066" cy="465087"/>
            <a:chOff x="0" y="0"/>
            <a:chExt cx="496087" cy="62011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6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0469909" y="7298236"/>
            <a:ext cx="28859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Ask Questions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469909" y="7758560"/>
            <a:ext cx="2885923" cy="167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 submits natural language queries through the chat interface.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3744423" y="5571382"/>
            <a:ext cx="28575" cy="744141"/>
            <a:chOff x="0" y="0"/>
            <a:chExt cx="38100" cy="99218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3479656" y="6036469"/>
            <a:ext cx="558108" cy="558108"/>
            <a:chOff x="0" y="0"/>
            <a:chExt cx="744144" cy="7441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3572677" y="6082979"/>
            <a:ext cx="372066" cy="465087"/>
            <a:chOff x="0" y="0"/>
            <a:chExt cx="496087" cy="6201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7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315825" y="3189532"/>
            <a:ext cx="28859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Retrieve Context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315825" y="3649866"/>
            <a:ext cx="2885923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Semantic search finds the most relevant document chunks.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5590491" y="6315523"/>
            <a:ext cx="28575" cy="744141"/>
            <a:chOff x="0" y="0"/>
            <a:chExt cx="38100" cy="99218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8100" cy="992124"/>
            </a:xfrm>
            <a:custGeom>
              <a:avLst/>
              <a:gdLst/>
              <a:ahLst/>
              <a:cxnLst/>
              <a:rect l="l" t="t" r="r" b="b"/>
              <a:pathLst>
                <a:path w="38100" h="99212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3074"/>
                  </a:lnTo>
                  <a:cubicBezTo>
                    <a:pt x="38100" y="983615"/>
                    <a:pt x="29591" y="992124"/>
                    <a:pt x="19050" y="992124"/>
                  </a:cubicBezTo>
                  <a:cubicBezTo>
                    <a:pt x="8509" y="992124"/>
                    <a:pt x="0" y="983615"/>
                    <a:pt x="0" y="973074"/>
                  </a:cubicBezTo>
                  <a:close/>
                </a:path>
              </a:pathLst>
            </a:custGeom>
            <a:solidFill>
              <a:srgbClr val="535455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5325725" y="6036469"/>
            <a:ext cx="558108" cy="558108"/>
            <a:chOff x="0" y="0"/>
            <a:chExt cx="744144" cy="74414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44220" cy="744220"/>
            </a:xfrm>
            <a:custGeom>
              <a:avLst/>
              <a:gdLst/>
              <a:ahLst/>
              <a:cxnLst/>
              <a:rect l="l" t="t" r="r" b="b"/>
              <a:pathLst>
                <a:path w="744220" h="744220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94563" y="0"/>
                  </a:lnTo>
                  <a:cubicBezTo>
                    <a:pt x="721995" y="0"/>
                    <a:pt x="744220" y="22225"/>
                    <a:pt x="744220" y="49657"/>
                  </a:cubicBezTo>
                  <a:lnTo>
                    <a:pt x="744220" y="694563"/>
                  </a:lnTo>
                  <a:cubicBezTo>
                    <a:pt x="744220" y="721995"/>
                    <a:pt x="721995" y="744220"/>
                    <a:pt x="694563" y="744220"/>
                  </a:cubicBezTo>
                  <a:lnTo>
                    <a:pt x="49657" y="744220"/>
                  </a:lnTo>
                  <a:cubicBezTo>
                    <a:pt x="22225" y="744093"/>
                    <a:pt x="0" y="721868"/>
                    <a:pt x="0" y="694563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5418746" y="6082979"/>
            <a:ext cx="372066" cy="465087"/>
            <a:chOff x="0" y="0"/>
            <a:chExt cx="496087" cy="62011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96093" cy="620117"/>
            </a:xfrm>
            <a:custGeom>
              <a:avLst/>
              <a:gdLst/>
              <a:ahLst/>
              <a:cxnLst/>
              <a:rect l="l" t="t" r="r" b="b"/>
              <a:pathLst>
                <a:path w="496093" h="620117">
                  <a:moveTo>
                    <a:pt x="0" y="0"/>
                  </a:moveTo>
                  <a:lnTo>
                    <a:pt x="496093" y="0"/>
                  </a:lnTo>
                  <a:lnTo>
                    <a:pt x="496093" y="620117"/>
                  </a:lnTo>
                  <a:lnTo>
                    <a:pt x="0" y="6201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79" r="-110378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496087" cy="620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900">
                  <a:solidFill>
                    <a:srgbClr val="CFCBBF"/>
                  </a:solidFill>
                  <a:latin typeface="Prata"/>
                  <a:ea typeface="Prata"/>
                  <a:cs typeface="Prata"/>
                  <a:sym typeface="Prata"/>
                </a:rPr>
                <a:t>8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4161741" y="7298236"/>
            <a:ext cx="2886075" cy="7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Generate Response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161741" y="8146256"/>
            <a:ext cx="2886075" cy="127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1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Gemini delivers a grounded, cited answer from document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54673" y="754409"/>
            <a:ext cx="5662908" cy="612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4673" y="1629223"/>
            <a:ext cx="15892910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VertexDoc AI delivers a comprehensive feature set — from document ingestion and AI chat to export and conversation history — all within a responsive interface.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54673" y="2089547"/>
            <a:ext cx="7416556" cy="1746942"/>
            <a:chOff x="0" y="0"/>
            <a:chExt cx="9888741" cy="23292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844573" y="2279456"/>
            <a:ext cx="569709" cy="569709"/>
            <a:chOff x="0" y="0"/>
            <a:chExt cx="759612" cy="75961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2001288" y="2436019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79"/>
                </a:lnTo>
                <a:lnTo>
                  <a:pt x="0" y="256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556" b="-555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44573" y="2985049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PDF Upload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4573" y="3349819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Drag-and-drop or browse upload with file validation.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16628" y="2089547"/>
            <a:ext cx="7416556" cy="1746942"/>
            <a:chOff x="0" y="0"/>
            <a:chExt cx="9888741" cy="23292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406528" y="2279456"/>
            <a:ext cx="569709" cy="569709"/>
            <a:chOff x="0" y="0"/>
            <a:chExt cx="759612" cy="75961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-3"/>
              </a:stretch>
            </a:blip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9563252" y="2436019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79"/>
                </a:lnTo>
                <a:lnTo>
                  <a:pt x="0" y="256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407" b="-7407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406528" y="2985049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AI Summary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6528" y="3349819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Auto-generated document summaries via Gemini.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54673" y="3981898"/>
            <a:ext cx="7416556" cy="1746942"/>
            <a:chOff x="0" y="0"/>
            <a:chExt cx="9888741" cy="23292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844573" y="4171798"/>
            <a:ext cx="569709" cy="569709"/>
            <a:chOff x="0" y="0"/>
            <a:chExt cx="759612" cy="759612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3" b="-3"/>
              </a:stretch>
            </a:blip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2001288" y="4328370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79"/>
                </a:lnTo>
                <a:lnTo>
                  <a:pt x="0" y="256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0370" b="-20370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844573" y="4877391"/>
            <a:ext cx="2380955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Suggested Questions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44573" y="5242169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AI-curated questions to guide document exploration.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16628" y="3981898"/>
            <a:ext cx="7416556" cy="1746942"/>
            <a:chOff x="0" y="0"/>
            <a:chExt cx="9888741" cy="23292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406528" y="4171798"/>
            <a:ext cx="569709" cy="569709"/>
            <a:chOff x="0" y="0"/>
            <a:chExt cx="759612" cy="759612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" b="-3"/>
              </a:stretch>
            </a:blipFill>
          </p:spPr>
        </p:sp>
      </p:grpSp>
      <p:sp>
        <p:nvSpPr>
          <p:cNvPr id="33" name="Freeform 33" descr="preencoded.png"/>
          <p:cNvSpPr/>
          <p:nvPr/>
        </p:nvSpPr>
        <p:spPr>
          <a:xfrm>
            <a:off x="9563252" y="4328370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79"/>
                </a:lnTo>
                <a:lnTo>
                  <a:pt x="0" y="256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406528" y="4877391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Document Chat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06528" y="5242169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Conversational Q&amp;A grounded in uploaded content.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654673" y="5874248"/>
            <a:ext cx="7416556" cy="1746942"/>
            <a:chOff x="0" y="0"/>
            <a:chExt cx="9888741" cy="232925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844573" y="6064148"/>
            <a:ext cx="569709" cy="569709"/>
            <a:chOff x="0" y="0"/>
            <a:chExt cx="759612" cy="759612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3" b="-3"/>
              </a:stretch>
            </a:blipFill>
          </p:spPr>
        </p:sp>
      </p:grpSp>
      <p:sp>
        <p:nvSpPr>
          <p:cNvPr id="40" name="Freeform 40" descr="preencoded.png"/>
          <p:cNvSpPr/>
          <p:nvPr/>
        </p:nvSpPr>
        <p:spPr>
          <a:xfrm>
            <a:off x="2001288" y="6220720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80"/>
                </a:lnTo>
                <a:lnTo>
                  <a:pt x="0" y="256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850" b="-1854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844573" y="6769741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Semantic Search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44573" y="7134520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Vector-based retrieval understands meaning, not just keywords.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216628" y="5874248"/>
            <a:ext cx="7416556" cy="1746942"/>
            <a:chOff x="0" y="0"/>
            <a:chExt cx="9888741" cy="23292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9406528" y="6064148"/>
            <a:ext cx="569709" cy="569709"/>
            <a:chOff x="0" y="0"/>
            <a:chExt cx="759612" cy="759612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3" b="-3"/>
              </a:stretch>
            </a:blipFill>
          </p:spPr>
        </p:sp>
      </p:grpSp>
      <p:sp>
        <p:nvSpPr>
          <p:cNvPr id="47" name="Freeform 47" descr="preencoded.png"/>
          <p:cNvSpPr/>
          <p:nvPr/>
        </p:nvSpPr>
        <p:spPr>
          <a:xfrm>
            <a:off x="9563252" y="6220720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80"/>
                </a:lnTo>
                <a:lnTo>
                  <a:pt x="0" y="256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9406528" y="6769741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Export TXT &amp; PDF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6528" y="7134520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Export summaries and chat history in multiple formats.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654673" y="7766599"/>
            <a:ext cx="7416556" cy="1746942"/>
            <a:chOff x="0" y="0"/>
            <a:chExt cx="9888741" cy="232925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844573" y="7956499"/>
            <a:ext cx="569709" cy="569709"/>
            <a:chOff x="0" y="0"/>
            <a:chExt cx="759612" cy="759612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3" b="-3"/>
              </a:stretch>
            </a:blipFill>
          </p:spPr>
        </p:sp>
      </p:grpSp>
      <p:sp>
        <p:nvSpPr>
          <p:cNvPr id="54" name="Freeform 54" descr="preencoded.png"/>
          <p:cNvSpPr/>
          <p:nvPr/>
        </p:nvSpPr>
        <p:spPr>
          <a:xfrm>
            <a:off x="2001288" y="8113071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80"/>
                </a:lnTo>
                <a:lnTo>
                  <a:pt x="0" y="256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844573" y="8662092"/>
            <a:ext cx="2406101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Conversation History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844573" y="9026871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Full session history maintained throughout the interaction.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216628" y="7766599"/>
            <a:ext cx="7416556" cy="1746942"/>
            <a:chOff x="0" y="0"/>
            <a:chExt cx="9888741" cy="23292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888728" cy="2329180"/>
            </a:xfrm>
            <a:custGeom>
              <a:avLst/>
              <a:gdLst/>
              <a:ahLst/>
              <a:cxnLst/>
              <a:rect l="l" t="t" r="r" b="b"/>
              <a:pathLst>
                <a:path w="9888728" h="2329180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lnTo>
                    <a:pt x="9850755" y="0"/>
                  </a:lnTo>
                  <a:cubicBezTo>
                    <a:pt x="9871711" y="0"/>
                    <a:pt x="9888728" y="17018"/>
                    <a:pt x="9888728" y="37973"/>
                  </a:cubicBezTo>
                  <a:lnTo>
                    <a:pt x="9888728" y="2291207"/>
                  </a:lnTo>
                  <a:cubicBezTo>
                    <a:pt x="9888728" y="2312162"/>
                    <a:pt x="9871711" y="2329180"/>
                    <a:pt x="9850755" y="2329180"/>
                  </a:cubicBezTo>
                  <a:lnTo>
                    <a:pt x="37973" y="2329180"/>
                  </a:lnTo>
                  <a:cubicBezTo>
                    <a:pt x="17018" y="2329180"/>
                    <a:pt x="0" y="2312162"/>
                    <a:pt x="0" y="2291207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406528" y="7956499"/>
            <a:ext cx="569709" cy="569709"/>
            <a:chOff x="0" y="0"/>
            <a:chExt cx="759612" cy="759612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759587" cy="759587"/>
            </a:xfrm>
            <a:custGeom>
              <a:avLst/>
              <a:gdLst/>
              <a:ahLst/>
              <a:cxnLst/>
              <a:rect l="l" t="t" r="r" b="b"/>
              <a:pathLst>
                <a:path w="759587" h="759587">
                  <a:moveTo>
                    <a:pt x="0" y="0"/>
                  </a:moveTo>
                  <a:lnTo>
                    <a:pt x="759587" y="0"/>
                  </a:lnTo>
                  <a:lnTo>
                    <a:pt x="759587" y="759587"/>
                  </a:lnTo>
                  <a:lnTo>
                    <a:pt x="0" y="759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3" b="-3"/>
              </a:stretch>
            </a:blipFill>
          </p:spPr>
        </p:sp>
      </p:grpSp>
      <p:sp>
        <p:nvSpPr>
          <p:cNvPr id="61" name="Freeform 61" descr="preencoded.png"/>
          <p:cNvSpPr/>
          <p:nvPr/>
        </p:nvSpPr>
        <p:spPr>
          <a:xfrm>
            <a:off x="9563252" y="8113071"/>
            <a:ext cx="256280" cy="256280"/>
          </a:xfrm>
          <a:custGeom>
            <a:avLst/>
            <a:gdLst/>
            <a:ahLst/>
            <a:cxnLst/>
            <a:rect l="l" t="t" r="r" b="b"/>
            <a:pathLst>
              <a:path w="256280" h="256280">
                <a:moveTo>
                  <a:pt x="0" y="0"/>
                </a:moveTo>
                <a:lnTo>
                  <a:pt x="256280" y="0"/>
                </a:lnTo>
                <a:lnTo>
                  <a:pt x="256280" y="256280"/>
                </a:lnTo>
                <a:lnTo>
                  <a:pt x="0" y="256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7407" r="-7407"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9406528" y="8662092"/>
            <a:ext cx="2374259" cy="30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Responsive UI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406528" y="9026871"/>
            <a:ext cx="7036746" cy="29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Works seamlessly across desktop, tablet, and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698744"/>
            <a:ext cx="10278666" cy="73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Project Structure &amp; Core Modules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787423"/>
            <a:ext cx="17217923" cy="41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 clean, modular codebase with dedicated services for each domain — enabling independent testing, maintenance, and extension.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634558"/>
            <a:ext cx="3773243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Folder Hierarchy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3248025"/>
            <a:ext cx="5849388" cy="6084094"/>
            <a:chOff x="0" y="0"/>
            <a:chExt cx="7799184" cy="8112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99197" cy="8112125"/>
            </a:xfrm>
            <a:custGeom>
              <a:avLst/>
              <a:gdLst/>
              <a:ahLst/>
              <a:cxnLst/>
              <a:rect l="l" t="t" r="r" b="b"/>
              <a:pathLst>
                <a:path w="7799197" h="8112125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7753477" y="0"/>
                  </a:lnTo>
                  <a:cubicBezTo>
                    <a:pt x="7778750" y="0"/>
                    <a:pt x="7799197" y="20447"/>
                    <a:pt x="7799197" y="45720"/>
                  </a:cubicBezTo>
                  <a:lnTo>
                    <a:pt x="7799197" y="8066405"/>
                  </a:lnTo>
                  <a:cubicBezTo>
                    <a:pt x="7799197" y="8091678"/>
                    <a:pt x="7778750" y="8112125"/>
                    <a:pt x="7753477" y="8112125"/>
                  </a:cubicBezTo>
                  <a:lnTo>
                    <a:pt x="45720" y="8112125"/>
                  </a:lnTo>
                  <a:cubicBezTo>
                    <a:pt x="20447" y="8112125"/>
                    <a:pt x="0" y="8091678"/>
                    <a:pt x="0" y="8066405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0923" y="3248025"/>
            <a:ext cx="5872010" cy="6084094"/>
            <a:chOff x="0" y="0"/>
            <a:chExt cx="7829347" cy="8112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29296" cy="8112125"/>
            </a:xfrm>
            <a:custGeom>
              <a:avLst/>
              <a:gdLst/>
              <a:ahLst/>
              <a:cxnLst/>
              <a:rect l="l" t="t" r="r" b="b"/>
              <a:pathLst>
                <a:path w="7829296" h="8112125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7783576" y="0"/>
                  </a:lnTo>
                  <a:cubicBezTo>
                    <a:pt x="7808849" y="0"/>
                    <a:pt x="7829296" y="20447"/>
                    <a:pt x="7829296" y="45720"/>
                  </a:cubicBezTo>
                  <a:lnTo>
                    <a:pt x="7829296" y="8066405"/>
                  </a:lnTo>
                  <a:cubicBezTo>
                    <a:pt x="7829296" y="8091678"/>
                    <a:pt x="7808849" y="8112125"/>
                    <a:pt x="7783576" y="8112125"/>
                  </a:cubicBezTo>
                  <a:lnTo>
                    <a:pt x="45720" y="8112125"/>
                  </a:lnTo>
                  <a:cubicBezTo>
                    <a:pt x="20447" y="8112125"/>
                    <a:pt x="0" y="8091678"/>
                    <a:pt x="0" y="8066405"/>
                  </a:cubicBezTo>
                  <a:close/>
                </a:path>
              </a:pathLst>
            </a:custGeom>
            <a:solidFill>
              <a:srgbClr val="28292A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266673" y="3381375"/>
            <a:ext cx="5300510" cy="572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vertexdoc-ai/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app.py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config.py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routes/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services/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├── pdf_service.py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├── summary_service.py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├── question_service.py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├── rag_service.py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├── chat_service.py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│   └── export_service.py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templates/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static/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uploads/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├── vector_store/</a:t>
            </a:r>
          </a:p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Consolas"/>
                <a:ea typeface="Consolas"/>
                <a:cs typeface="Consolas"/>
                <a:sym typeface="Consolas"/>
              </a:rPr>
              <a:t>└── README.md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08964" y="2634558"/>
            <a:ext cx="3948855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Core Service Modules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394677" y="3233738"/>
            <a:ext cx="3186713" cy="2166042"/>
            <a:chOff x="0" y="0"/>
            <a:chExt cx="4248950" cy="2888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48912" cy="2888107"/>
            </a:xfrm>
            <a:custGeom>
              <a:avLst/>
              <a:gdLst/>
              <a:ahLst/>
              <a:cxnLst/>
              <a:rect l="l" t="t" r="r" b="b"/>
              <a:pathLst>
                <a:path w="4248912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557" y="0"/>
                  </a:lnTo>
                  <a:cubicBezTo>
                    <a:pt x="4228211" y="0"/>
                    <a:pt x="4248912" y="20701"/>
                    <a:pt x="4248912" y="46355"/>
                  </a:cubicBezTo>
                  <a:lnTo>
                    <a:pt x="4248912" y="2841752"/>
                  </a:lnTo>
                  <a:cubicBezTo>
                    <a:pt x="4248912" y="2867406"/>
                    <a:pt x="4228211" y="2888107"/>
                    <a:pt x="4202557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7666139" y="3486150"/>
            <a:ext cx="2643778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PDF 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66139" y="4006606"/>
            <a:ext cx="2643778" cy="77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Extracts and chunks text from uploaded PDFs.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63545" y="3233738"/>
            <a:ext cx="3186855" cy="2166042"/>
            <a:chOff x="0" y="0"/>
            <a:chExt cx="4249141" cy="28880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49166" cy="2888107"/>
            </a:xfrm>
            <a:custGeom>
              <a:avLst/>
              <a:gdLst/>
              <a:ahLst/>
              <a:cxnLst/>
              <a:rect l="l" t="t" r="r" b="b"/>
              <a:pathLst>
                <a:path w="4249166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811" y="0"/>
                  </a:lnTo>
                  <a:cubicBezTo>
                    <a:pt x="4228465" y="0"/>
                    <a:pt x="4249166" y="20701"/>
                    <a:pt x="4249166" y="46355"/>
                  </a:cubicBezTo>
                  <a:lnTo>
                    <a:pt x="4249166" y="2841752"/>
                  </a:lnTo>
                  <a:cubicBezTo>
                    <a:pt x="4249166" y="2867406"/>
                    <a:pt x="4228465" y="2888107"/>
                    <a:pt x="4202811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035008" y="3486150"/>
            <a:ext cx="2643930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Summary 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5008" y="4006606"/>
            <a:ext cx="2643930" cy="112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Generates concise document overviews via Gemini.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132566" y="3233738"/>
            <a:ext cx="3186855" cy="2166042"/>
            <a:chOff x="0" y="0"/>
            <a:chExt cx="4249141" cy="2888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49166" cy="2888107"/>
            </a:xfrm>
            <a:custGeom>
              <a:avLst/>
              <a:gdLst/>
              <a:ahLst/>
              <a:cxnLst/>
              <a:rect l="l" t="t" r="r" b="b"/>
              <a:pathLst>
                <a:path w="4249166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811" y="0"/>
                  </a:lnTo>
                  <a:cubicBezTo>
                    <a:pt x="4228465" y="0"/>
                    <a:pt x="4249166" y="20701"/>
                    <a:pt x="4249166" y="46355"/>
                  </a:cubicBezTo>
                  <a:lnTo>
                    <a:pt x="4249166" y="2841752"/>
                  </a:lnTo>
                  <a:cubicBezTo>
                    <a:pt x="4249166" y="2867406"/>
                    <a:pt x="4228465" y="2888107"/>
                    <a:pt x="4202811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4404029" y="3486150"/>
            <a:ext cx="2643930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Question 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04029" y="4006606"/>
            <a:ext cx="2643930" cy="112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Creates AI-suggested questions for exploration.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394677" y="5581945"/>
            <a:ext cx="3186713" cy="2166042"/>
            <a:chOff x="0" y="0"/>
            <a:chExt cx="4248950" cy="28880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48912" cy="2888107"/>
            </a:xfrm>
            <a:custGeom>
              <a:avLst/>
              <a:gdLst/>
              <a:ahLst/>
              <a:cxnLst/>
              <a:rect l="l" t="t" r="r" b="b"/>
              <a:pathLst>
                <a:path w="4248912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557" y="0"/>
                  </a:lnTo>
                  <a:cubicBezTo>
                    <a:pt x="4228211" y="0"/>
                    <a:pt x="4248912" y="20701"/>
                    <a:pt x="4248912" y="46355"/>
                  </a:cubicBezTo>
                  <a:lnTo>
                    <a:pt x="4248912" y="2841752"/>
                  </a:lnTo>
                  <a:cubicBezTo>
                    <a:pt x="4248912" y="2867406"/>
                    <a:pt x="4228211" y="2888107"/>
                    <a:pt x="4202557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666139" y="5834358"/>
            <a:ext cx="2643778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RAG Service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66139" y="6354813"/>
            <a:ext cx="2643778" cy="112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Manages embedding, storage, and vector retrieval.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763545" y="5581945"/>
            <a:ext cx="3186855" cy="2166042"/>
            <a:chOff x="0" y="0"/>
            <a:chExt cx="4249141" cy="28880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49166" cy="2888107"/>
            </a:xfrm>
            <a:custGeom>
              <a:avLst/>
              <a:gdLst/>
              <a:ahLst/>
              <a:cxnLst/>
              <a:rect l="l" t="t" r="r" b="b"/>
              <a:pathLst>
                <a:path w="4249166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811" y="0"/>
                  </a:lnTo>
                  <a:cubicBezTo>
                    <a:pt x="4228465" y="0"/>
                    <a:pt x="4249166" y="20701"/>
                    <a:pt x="4249166" y="46355"/>
                  </a:cubicBezTo>
                  <a:lnTo>
                    <a:pt x="4249166" y="2841752"/>
                  </a:lnTo>
                  <a:cubicBezTo>
                    <a:pt x="4249166" y="2867406"/>
                    <a:pt x="4228465" y="2888107"/>
                    <a:pt x="4202811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1035008" y="5834358"/>
            <a:ext cx="2643930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Chat Service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35008" y="6354813"/>
            <a:ext cx="2643930" cy="112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Orchestrates the full RAG pipeline for user queries.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132566" y="5581945"/>
            <a:ext cx="3186855" cy="2166042"/>
            <a:chOff x="0" y="0"/>
            <a:chExt cx="4249141" cy="28880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49166" cy="2888107"/>
            </a:xfrm>
            <a:custGeom>
              <a:avLst/>
              <a:gdLst/>
              <a:ahLst/>
              <a:cxnLst/>
              <a:rect l="l" t="t" r="r" b="b"/>
              <a:pathLst>
                <a:path w="4249166" h="2888107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4202811" y="0"/>
                  </a:lnTo>
                  <a:cubicBezTo>
                    <a:pt x="4228465" y="0"/>
                    <a:pt x="4249166" y="20701"/>
                    <a:pt x="4249166" y="46355"/>
                  </a:cubicBezTo>
                  <a:lnTo>
                    <a:pt x="4249166" y="2841752"/>
                  </a:lnTo>
                  <a:cubicBezTo>
                    <a:pt x="4249166" y="2867406"/>
                    <a:pt x="4228465" y="2888107"/>
                    <a:pt x="4202811" y="2888107"/>
                  </a:cubicBezTo>
                  <a:lnTo>
                    <a:pt x="46355" y="2888107"/>
                  </a:lnTo>
                  <a:cubicBezTo>
                    <a:pt x="20701" y="2888107"/>
                    <a:pt x="0" y="2867406"/>
                    <a:pt x="0" y="2841752"/>
                  </a:cubicBezTo>
                  <a:close/>
                </a:path>
              </a:pathLst>
            </a:custGeom>
            <a:solidFill>
              <a:srgbClr val="1B1C1D"/>
            </a:solidFill>
            <a:ln w="28576" cap="sq">
              <a:solidFill>
                <a:srgbClr val="535455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4404029" y="5834358"/>
            <a:ext cx="2643930" cy="3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Export Service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404029" y="6354813"/>
            <a:ext cx="2643930" cy="77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Outputs summaries and history as TXT or PDF.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253065" y="789680"/>
            <a:ext cx="40155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AI &amp; RAG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53065" y="1310878"/>
            <a:ext cx="1069628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The RAG pipeline ensures every response is grounded in retrieved document context — eliminating hallucination by design.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253065" y="1529210"/>
            <a:ext cx="9781880" cy="4290860"/>
            <a:chOff x="0" y="0"/>
            <a:chExt cx="13042506" cy="572114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042519" cy="5721096"/>
            </a:xfrm>
            <a:custGeom>
              <a:avLst/>
              <a:gdLst/>
              <a:ahLst/>
              <a:cxnLst/>
              <a:rect l="l" t="t" r="r" b="b"/>
              <a:pathLst>
                <a:path w="13042519" h="5721096">
                  <a:moveTo>
                    <a:pt x="0" y="0"/>
                  </a:moveTo>
                  <a:lnTo>
                    <a:pt x="13042519" y="0"/>
                  </a:lnTo>
                  <a:lnTo>
                    <a:pt x="13042519" y="5721096"/>
                  </a:lnTo>
                  <a:lnTo>
                    <a:pt x="0" y="5721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5" b="-5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217512" y="4767720"/>
            <a:ext cx="1478404" cy="274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Vector 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17512" y="5145824"/>
            <a:ext cx="1478404" cy="28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FAISS retrieves top relevant chunks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14041" y="4503010"/>
            <a:ext cx="1478404" cy="53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Grounded Response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14041" y="5145824"/>
            <a:ext cx="1478404" cy="28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Gemini generates cited answer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21015" y="1905333"/>
            <a:ext cx="1478404" cy="274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User Question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21015" y="2283438"/>
            <a:ext cx="1478404" cy="28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Natural language query submitted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8724" y="1905333"/>
            <a:ext cx="1478404" cy="53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Context Assembly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98724" y="2548147"/>
            <a:ext cx="1478404" cy="28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"/>
              </a:lnSpc>
            </a:pPr>
            <a:r>
              <a:rPr lang="en-US" sz="13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Chunks formatted into a prompt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253065" y="5889727"/>
            <a:ext cx="9781880" cy="338290"/>
            <a:chOff x="0" y="0"/>
            <a:chExt cx="13042506" cy="4510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042519" cy="450978"/>
            </a:xfrm>
            <a:custGeom>
              <a:avLst/>
              <a:gdLst/>
              <a:ahLst/>
              <a:cxnLst/>
              <a:rect l="l" t="t" r="r" b="b"/>
              <a:pathLst>
                <a:path w="13042519" h="450978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13017754" y="0"/>
                  </a:lnTo>
                  <a:cubicBezTo>
                    <a:pt x="13031470" y="0"/>
                    <a:pt x="13042519" y="11049"/>
                    <a:pt x="13042519" y="24765"/>
                  </a:cubicBezTo>
                  <a:lnTo>
                    <a:pt x="13042519" y="426212"/>
                  </a:lnTo>
                  <a:cubicBezTo>
                    <a:pt x="13042519" y="439928"/>
                    <a:pt x="13031470" y="450977"/>
                    <a:pt x="13017754" y="450977"/>
                  </a:cubicBezTo>
                  <a:lnTo>
                    <a:pt x="24765" y="450977"/>
                  </a:lnTo>
                  <a:cubicBezTo>
                    <a:pt x="11049" y="451104"/>
                    <a:pt x="0" y="439928"/>
                    <a:pt x="0" y="426212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377033" y="6044651"/>
            <a:ext cx="154934" cy="123977"/>
            <a:chOff x="0" y="0"/>
            <a:chExt cx="206578" cy="16530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206629" cy="165354"/>
            </a:xfrm>
            <a:custGeom>
              <a:avLst/>
              <a:gdLst/>
              <a:ahLst/>
              <a:cxnLst/>
              <a:rect l="l" t="t" r="r" b="b"/>
              <a:pathLst>
                <a:path w="206629" h="165354">
                  <a:moveTo>
                    <a:pt x="0" y="0"/>
                  </a:moveTo>
                  <a:lnTo>
                    <a:pt x="206629" y="0"/>
                  </a:lnTo>
                  <a:lnTo>
                    <a:pt x="206629" y="165354"/>
                  </a:lnTo>
                  <a:lnTo>
                    <a:pt x="0" y="165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59" r="24" b="-1420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4655944" y="5976490"/>
            <a:ext cx="1016942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 hallucination.</a:t>
            </a: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Answers are generated exclusively from uploaded document context — the retrieval layer acts as a grounding constraint on the LLM.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53065" y="6359576"/>
            <a:ext cx="263559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Challenges &amp; Solutions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4234015" y="6622999"/>
            <a:ext cx="4758776" cy="690410"/>
          </a:xfrm>
          <a:custGeom>
            <a:avLst/>
            <a:gdLst/>
            <a:ahLst/>
            <a:cxnLst/>
            <a:rect l="l" t="t" r="r" b="b"/>
            <a:pathLst>
              <a:path w="4758776" h="690410">
                <a:moveTo>
                  <a:pt x="0" y="0"/>
                </a:moveTo>
                <a:lnTo>
                  <a:pt x="4758776" y="0"/>
                </a:lnTo>
                <a:lnTo>
                  <a:pt x="4758776" y="690410"/>
                </a:lnTo>
                <a:lnTo>
                  <a:pt x="0" y="6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15" b="-31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453233" y="6766027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Large PDFs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3233" y="7021706"/>
            <a:ext cx="439653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Chunking + FAISS enables efficient processing of lengthy documents.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4234015" y="7375322"/>
            <a:ext cx="4758776" cy="690410"/>
          </a:xfrm>
          <a:custGeom>
            <a:avLst/>
            <a:gdLst/>
            <a:ahLst/>
            <a:cxnLst/>
            <a:rect l="l" t="t" r="r" b="b"/>
            <a:pathLst>
              <a:path w="4758776" h="690410">
                <a:moveTo>
                  <a:pt x="0" y="0"/>
                </a:moveTo>
                <a:lnTo>
                  <a:pt x="4758776" y="0"/>
                </a:lnTo>
                <a:lnTo>
                  <a:pt x="4758776" y="690410"/>
                </a:lnTo>
                <a:lnTo>
                  <a:pt x="0" y="6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15" b="-317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453233" y="7518349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AI Hallucination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53233" y="7774038"/>
            <a:ext cx="439653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RAG restricts generation to retrieved context only.</a:t>
            </a:r>
          </a:p>
        </p:txBody>
      </p:sp>
      <p:sp>
        <p:nvSpPr>
          <p:cNvPr id="30" name="Freeform 30" descr="preencoded.png"/>
          <p:cNvSpPr/>
          <p:nvPr/>
        </p:nvSpPr>
        <p:spPr>
          <a:xfrm>
            <a:off x="4234015" y="8127654"/>
            <a:ext cx="4758776" cy="690410"/>
          </a:xfrm>
          <a:custGeom>
            <a:avLst/>
            <a:gdLst/>
            <a:ahLst/>
            <a:cxnLst/>
            <a:rect l="l" t="t" r="r" b="b"/>
            <a:pathLst>
              <a:path w="4758776" h="690410">
                <a:moveTo>
                  <a:pt x="0" y="0"/>
                </a:moveTo>
                <a:lnTo>
                  <a:pt x="4758776" y="0"/>
                </a:lnTo>
                <a:lnTo>
                  <a:pt x="4758776" y="690410"/>
                </a:lnTo>
                <a:lnTo>
                  <a:pt x="0" y="6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15" b="-317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453233" y="8270672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API Errors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53233" y="8526361"/>
            <a:ext cx="439653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Graceful exception handling with user-friendly fallbacks.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04734" y="6359576"/>
            <a:ext cx="24648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Testing Results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04734" y="6622999"/>
            <a:ext cx="2338835" cy="652310"/>
            <a:chOff x="0" y="0"/>
            <a:chExt cx="3118447" cy="8697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18358" cy="869696"/>
            </a:xfrm>
            <a:custGeom>
              <a:avLst/>
              <a:gdLst/>
              <a:ahLst/>
              <a:cxnLst/>
              <a:rect l="l" t="t" r="r" b="b"/>
              <a:pathLst>
                <a:path w="3118358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593" y="0"/>
                  </a:lnTo>
                  <a:cubicBezTo>
                    <a:pt x="3107309" y="0"/>
                    <a:pt x="3118358" y="11049"/>
                    <a:pt x="3118358" y="24765"/>
                  </a:cubicBezTo>
                  <a:lnTo>
                    <a:pt x="3118358" y="844931"/>
                  </a:lnTo>
                  <a:cubicBezTo>
                    <a:pt x="3118358" y="858647"/>
                    <a:pt x="3107309" y="869696"/>
                    <a:pt x="3093593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9428712" y="6746977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PDF Upload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28712" y="7002656"/>
            <a:ext cx="209089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705482" y="6622999"/>
            <a:ext cx="2338978" cy="652310"/>
            <a:chOff x="0" y="0"/>
            <a:chExt cx="3118637" cy="86974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18612" cy="869696"/>
            </a:xfrm>
            <a:custGeom>
              <a:avLst/>
              <a:gdLst/>
              <a:ahLst/>
              <a:cxnLst/>
              <a:rect l="l" t="t" r="r" b="b"/>
              <a:pathLst>
                <a:path w="3118612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847" y="0"/>
                  </a:lnTo>
                  <a:cubicBezTo>
                    <a:pt x="3107563" y="0"/>
                    <a:pt x="3118612" y="11049"/>
                    <a:pt x="3118612" y="24765"/>
                  </a:cubicBezTo>
                  <a:lnTo>
                    <a:pt x="3118612" y="844931"/>
                  </a:lnTo>
                  <a:cubicBezTo>
                    <a:pt x="3118612" y="858647"/>
                    <a:pt x="3107563" y="869696"/>
                    <a:pt x="3093847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1829450" y="6746977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Text Extraction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29450" y="7002656"/>
            <a:ext cx="209103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04734" y="7337222"/>
            <a:ext cx="2338835" cy="652310"/>
            <a:chOff x="0" y="0"/>
            <a:chExt cx="3118447" cy="86974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118358" cy="869696"/>
            </a:xfrm>
            <a:custGeom>
              <a:avLst/>
              <a:gdLst/>
              <a:ahLst/>
              <a:cxnLst/>
              <a:rect l="l" t="t" r="r" b="b"/>
              <a:pathLst>
                <a:path w="3118358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593" y="0"/>
                  </a:lnTo>
                  <a:cubicBezTo>
                    <a:pt x="3107309" y="0"/>
                    <a:pt x="3118358" y="11049"/>
                    <a:pt x="3118358" y="24765"/>
                  </a:cubicBezTo>
                  <a:lnTo>
                    <a:pt x="3118358" y="844931"/>
                  </a:lnTo>
                  <a:cubicBezTo>
                    <a:pt x="3118358" y="858647"/>
                    <a:pt x="3107309" y="869696"/>
                    <a:pt x="3093593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9428712" y="7461199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Summary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8712" y="7716888"/>
            <a:ext cx="209089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1705482" y="7337222"/>
            <a:ext cx="2338978" cy="652310"/>
            <a:chOff x="0" y="0"/>
            <a:chExt cx="3118637" cy="86974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18612" cy="869696"/>
            </a:xfrm>
            <a:custGeom>
              <a:avLst/>
              <a:gdLst/>
              <a:ahLst/>
              <a:cxnLst/>
              <a:rect l="l" t="t" r="r" b="b"/>
              <a:pathLst>
                <a:path w="3118612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847" y="0"/>
                  </a:lnTo>
                  <a:cubicBezTo>
                    <a:pt x="3107563" y="0"/>
                    <a:pt x="3118612" y="11049"/>
                    <a:pt x="3118612" y="24765"/>
                  </a:cubicBezTo>
                  <a:lnTo>
                    <a:pt x="3118612" y="844931"/>
                  </a:lnTo>
                  <a:cubicBezTo>
                    <a:pt x="3118612" y="858647"/>
                    <a:pt x="3107563" y="869696"/>
                    <a:pt x="3093847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11829450" y="7461199"/>
            <a:ext cx="1563138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Question Generation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829450" y="7716888"/>
            <a:ext cx="209103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304734" y="8051454"/>
            <a:ext cx="2338835" cy="652310"/>
            <a:chOff x="0" y="0"/>
            <a:chExt cx="3118447" cy="86974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118358" cy="869696"/>
            </a:xfrm>
            <a:custGeom>
              <a:avLst/>
              <a:gdLst/>
              <a:ahLst/>
              <a:cxnLst/>
              <a:rect l="l" t="t" r="r" b="b"/>
              <a:pathLst>
                <a:path w="3118358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593" y="0"/>
                  </a:lnTo>
                  <a:cubicBezTo>
                    <a:pt x="3107309" y="0"/>
                    <a:pt x="3118358" y="11049"/>
                    <a:pt x="3118358" y="24765"/>
                  </a:cubicBezTo>
                  <a:lnTo>
                    <a:pt x="3118358" y="844931"/>
                  </a:lnTo>
                  <a:cubicBezTo>
                    <a:pt x="3118358" y="858647"/>
                    <a:pt x="3107309" y="869696"/>
                    <a:pt x="3093593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52" name="TextBox 52"/>
          <p:cNvSpPr txBox="1"/>
          <p:nvPr/>
        </p:nvSpPr>
        <p:spPr>
          <a:xfrm>
            <a:off x="9428712" y="8175422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Chat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28712" y="8431111"/>
            <a:ext cx="209089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1705482" y="8051454"/>
            <a:ext cx="2338978" cy="652310"/>
            <a:chOff x="0" y="0"/>
            <a:chExt cx="3118637" cy="86974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18612" cy="869696"/>
            </a:xfrm>
            <a:custGeom>
              <a:avLst/>
              <a:gdLst/>
              <a:ahLst/>
              <a:cxnLst/>
              <a:rect l="l" t="t" r="r" b="b"/>
              <a:pathLst>
                <a:path w="3118612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847" y="0"/>
                  </a:lnTo>
                  <a:cubicBezTo>
                    <a:pt x="3107563" y="0"/>
                    <a:pt x="3118612" y="11049"/>
                    <a:pt x="3118612" y="24765"/>
                  </a:cubicBezTo>
                  <a:lnTo>
                    <a:pt x="3118612" y="844931"/>
                  </a:lnTo>
                  <a:cubicBezTo>
                    <a:pt x="3118612" y="858647"/>
                    <a:pt x="3107563" y="869696"/>
                    <a:pt x="3093847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1829450" y="8175422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Export TXT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829450" y="8431111"/>
            <a:ext cx="209103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304734" y="8765677"/>
            <a:ext cx="2338835" cy="652310"/>
            <a:chOff x="0" y="0"/>
            <a:chExt cx="3118447" cy="86974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118358" cy="869696"/>
            </a:xfrm>
            <a:custGeom>
              <a:avLst/>
              <a:gdLst/>
              <a:ahLst/>
              <a:cxnLst/>
              <a:rect l="l" t="t" r="r" b="b"/>
              <a:pathLst>
                <a:path w="3118358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593" y="0"/>
                  </a:lnTo>
                  <a:cubicBezTo>
                    <a:pt x="3107309" y="0"/>
                    <a:pt x="3118358" y="11049"/>
                    <a:pt x="3118358" y="24765"/>
                  </a:cubicBezTo>
                  <a:lnTo>
                    <a:pt x="3118358" y="844931"/>
                  </a:lnTo>
                  <a:cubicBezTo>
                    <a:pt x="3118358" y="858647"/>
                    <a:pt x="3107309" y="869696"/>
                    <a:pt x="3093593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9428712" y="8889654"/>
            <a:ext cx="155048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Export PDF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28712" y="9145343"/>
            <a:ext cx="2090890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1705482" y="8765677"/>
            <a:ext cx="2338978" cy="652310"/>
            <a:chOff x="0" y="0"/>
            <a:chExt cx="3118637" cy="86974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118612" cy="869696"/>
            </a:xfrm>
            <a:custGeom>
              <a:avLst/>
              <a:gdLst/>
              <a:ahLst/>
              <a:cxnLst/>
              <a:rect l="l" t="t" r="r" b="b"/>
              <a:pathLst>
                <a:path w="3118612" h="86969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3093847" y="0"/>
                  </a:lnTo>
                  <a:cubicBezTo>
                    <a:pt x="3107563" y="0"/>
                    <a:pt x="3118612" y="11049"/>
                    <a:pt x="3118612" y="24765"/>
                  </a:cubicBezTo>
                  <a:lnTo>
                    <a:pt x="3118612" y="844931"/>
                  </a:lnTo>
                  <a:cubicBezTo>
                    <a:pt x="3118612" y="858647"/>
                    <a:pt x="3107563" y="869696"/>
                    <a:pt x="3093847" y="869696"/>
                  </a:cubicBezTo>
                  <a:lnTo>
                    <a:pt x="24765" y="869696"/>
                  </a:lnTo>
                  <a:cubicBezTo>
                    <a:pt x="11049" y="869696"/>
                    <a:pt x="0" y="858647"/>
                    <a:pt x="0" y="844931"/>
                  </a:cubicBezTo>
                  <a:close/>
                </a:path>
              </a:pathLst>
            </a:custGeom>
            <a:solidFill>
              <a:srgbClr val="3A3B3C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11829450" y="8889654"/>
            <a:ext cx="1552870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Invalid File Handling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829450" y="9145343"/>
            <a:ext cx="209103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9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9676"/>
          </a:xfrm>
          <a:custGeom>
            <a:avLst/>
            <a:gdLst/>
            <a:ahLst/>
            <a:cxnLst/>
            <a:rect l="l" t="t" r="r" b="b"/>
            <a:pathLst>
              <a:path w="18288000" h="10379676">
                <a:moveTo>
                  <a:pt x="0" y="0"/>
                </a:moveTo>
                <a:lnTo>
                  <a:pt x="18288000" y="0"/>
                </a:lnTo>
                <a:lnTo>
                  <a:pt x="18288000" y="10379676"/>
                </a:lnTo>
                <a:lnTo>
                  <a:pt x="0" y="10379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93727" y="2341804"/>
            <a:ext cx="13960673" cy="8051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351"/>
              </a:lnSpc>
            </a:pPr>
            <a:r>
              <a:rPr lang="en-US" sz="15251" b="1" dirty="0">
                <a:solidFill>
                  <a:srgbClr val="0C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for </a:t>
            </a:r>
          </a:p>
          <a:p>
            <a:pPr algn="ctr">
              <a:lnSpc>
                <a:spcPts val="21351"/>
              </a:lnSpc>
            </a:pPr>
            <a:r>
              <a:rPr lang="en-US" sz="15251" b="1" dirty="0">
                <a:solidFill>
                  <a:srgbClr val="0C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1108</Words>
  <Application>Microsoft Office PowerPoint</Application>
  <PresentationFormat>Custom</PresentationFormat>
  <Paragraphs>214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Raleway</vt:lpstr>
      <vt:lpstr>Consolas</vt:lpstr>
      <vt:lpstr>Calibri</vt:lpstr>
      <vt:lpstr>Raleway Bold</vt:lpstr>
      <vt:lpstr>Arial</vt:lpstr>
      <vt:lpstr>Canva Sans Bold</vt:lpstr>
      <vt:lpstr>Prata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Intelligent-PDF-Chat-Assistant-using-Retrieval-Augmented-Generation-RAG (1).pptx</dc:title>
  <cp:lastModifiedBy>dell</cp:lastModifiedBy>
  <cp:revision>2</cp:revision>
  <dcterms:created xsi:type="dcterms:W3CDTF">2006-08-16T00:00:00Z</dcterms:created>
  <dcterms:modified xsi:type="dcterms:W3CDTF">2026-06-22T08:10:58Z</dcterms:modified>
  <dc:identifier>DAHNRxddH3Y</dc:identifier>
</cp:coreProperties>
</file>